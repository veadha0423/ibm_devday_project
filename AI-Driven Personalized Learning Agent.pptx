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9" r:id="rId6"/>
    <p:sldId id="310" r:id="rId7"/>
    <p:sldId id="311" r:id="rId8"/>
    <p:sldId id="312" r:id="rId9"/>
    <p:sldId id="313" r:id="rId10"/>
    <p:sldId id="31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 fontScale="90000"/>
          </a:bodyPr>
          <a:lstStyle/>
          <a:p>
            <a:r>
              <a:rPr lang="en-US" dirty="0"/>
              <a:t>AI-Driven Personalized Learning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dirty="0"/>
              <a:t>IBM Hackathon using </a:t>
            </a:r>
            <a:r>
              <a:rPr lang="en-US" dirty="0" err="1"/>
              <a:t>ibm</a:t>
            </a:r>
            <a:r>
              <a:rPr lang="en-US" dirty="0"/>
              <a:t> </a:t>
            </a:r>
            <a:r>
              <a:rPr lang="en-US" dirty="0" err="1"/>
              <a:t>watsonx</a:t>
            </a:r>
            <a:r>
              <a:rPr lang="en-US" dirty="0"/>
              <a:t> orchestra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E6832-E5BE-94E0-D082-99E20D2A0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F9E7C-6A88-9334-3A24-0A819D9A5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u="sng" dirty="0"/>
              <a:t>Current learning platforms typically: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E3290-A0C3-C835-7DC5-AF7B72278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u="sng" dirty="0"/>
              <a:t>As a result:</a:t>
            </a:r>
            <a:endParaRPr lang="en-IN" u="sng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2CFC481-AE72-2F39-4790-7048F3A2AAF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97280" y="2958273"/>
            <a:ext cx="51228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Rely on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self-reported completion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 dirty="0"/>
              <a:t>Lack </a:t>
            </a:r>
            <a:r>
              <a:rPr lang="en-US" sz="1800" b="1" dirty="0"/>
              <a:t>timely follow-ups</a:t>
            </a:r>
            <a:r>
              <a:rPr lang="en-US" sz="1800" dirty="0"/>
              <a:t> after learning sessions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 dirty="0"/>
              <a:t>Do not </a:t>
            </a:r>
            <a:r>
              <a:rPr lang="en-US" sz="1800" b="1" dirty="0"/>
              <a:t>verify understanding</a:t>
            </a:r>
            <a:r>
              <a:rPr lang="en-US" sz="1800" dirty="0"/>
              <a:t> through assessments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 dirty="0"/>
              <a:t>Fail to </a:t>
            </a:r>
            <a:r>
              <a:rPr lang="en-US" sz="1800" b="1" dirty="0"/>
              <a:t>update HR skill databases automatically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 dirty="0"/>
              <a:t>Operate as </a:t>
            </a:r>
            <a:r>
              <a:rPr lang="en-US" sz="1800" b="1" dirty="0"/>
              <a:t>disconnected systems</a:t>
            </a:r>
            <a:r>
              <a:rPr lang="en-US" sz="1800" dirty="0"/>
              <a:t> (LMS, Slack, calendars, HR tools)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F37E8781-04FD-BBA3-B332-565D771CC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944" y="2958273"/>
            <a:ext cx="526207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Managers cannot trust skill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Employees complete courses without measurable validation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 systems become outdated and inaccurate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ROI is unclear</a:t>
            </a:r>
          </a:p>
        </p:txBody>
      </p:sp>
    </p:spTree>
    <p:extLst>
      <p:ext uri="{BB962C8B-B14F-4D97-AF65-F5344CB8AC3E}">
        <p14:creationId xmlns:p14="http://schemas.microsoft.com/office/powerpoint/2010/main" val="1290649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94A6-5265-FF11-FD2D-31C7293F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ABBC1-E09B-B8EB-5420-189FBEB8E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propose an </a:t>
            </a:r>
            <a:r>
              <a:rPr lang="en-US" b="1" dirty="0"/>
              <a:t>Agentic AI Learning and HR Skill Validation System</a:t>
            </a:r>
            <a:r>
              <a:rPr lang="en-US" dirty="0"/>
              <a:t> built using </a:t>
            </a:r>
            <a:r>
              <a:rPr lang="en-US" b="1" dirty="0"/>
              <a:t>IBM </a:t>
            </a:r>
            <a:r>
              <a:rPr lang="en-US" b="1" dirty="0" err="1"/>
              <a:t>watsonx</a:t>
            </a:r>
            <a:r>
              <a:rPr lang="en-US" b="1" dirty="0"/>
              <a:t> Orchestrate</a:t>
            </a:r>
            <a:r>
              <a:rPr lang="en-US" dirty="0"/>
              <a:t>, where multiple specialized AI agents collaborate with deterministic tools to deliver </a:t>
            </a:r>
            <a:r>
              <a:rPr lang="en-US" b="1" dirty="0"/>
              <a:t>end-to-end skill validation</a:t>
            </a:r>
            <a:r>
              <a:rPr lang="en-US" dirty="0"/>
              <a:t>. The system:</a:t>
            </a:r>
          </a:p>
          <a:p>
            <a:r>
              <a:rPr lang="en-US" b="1" dirty="0"/>
              <a:t>Schedules learning sessions</a:t>
            </a:r>
            <a:endParaRPr lang="en-US" dirty="0"/>
          </a:p>
          <a:p>
            <a:r>
              <a:rPr lang="en-US" b="1" dirty="0"/>
              <a:t>Teaches concepts using adaptive explanations</a:t>
            </a:r>
            <a:endParaRPr lang="en-US" dirty="0"/>
          </a:p>
          <a:p>
            <a:r>
              <a:rPr lang="en-US" b="1" dirty="0"/>
              <a:t>Provides real-time, practical examples</a:t>
            </a:r>
            <a:endParaRPr lang="en-US" dirty="0"/>
          </a:p>
          <a:p>
            <a:r>
              <a:rPr lang="en-US" b="1" dirty="0"/>
              <a:t>Automatically follows up after a defined interval</a:t>
            </a:r>
            <a:endParaRPr lang="en-US" dirty="0"/>
          </a:p>
          <a:p>
            <a:r>
              <a:rPr lang="en-US" b="1" dirty="0"/>
              <a:t>Assesses learner understanding through quizzes</a:t>
            </a:r>
            <a:endParaRPr lang="en-US" dirty="0"/>
          </a:p>
          <a:p>
            <a:r>
              <a:rPr lang="en-US" b="1" dirty="0"/>
              <a:t>Updates HR skill systems only upon successful validation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2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AB4F-BA09-3989-3604-EC4ED9C13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Key Architectural Principles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A30493-AEEE-7E46-77E4-B29BF2A385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36338"/>
            <a:ext cx="995740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Reasoning: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Teaching, examples, and assessments are handled by AI agents capable of reasoning and adaptation.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Determinism: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Scheduling and HR updates use tools to ensure accuracy, auditability, and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Metadata Contract: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shared metadata schema allows agents and tools to collaborate seamlessly.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Enterprise-Ready: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to integrate with Slack, calendars, and HR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&amp; Extensible: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Modular architecture that can be shared, audited, and extended via GitHub.</a:t>
            </a:r>
          </a:p>
        </p:txBody>
      </p:sp>
    </p:spTree>
    <p:extLst>
      <p:ext uri="{BB962C8B-B14F-4D97-AF65-F5344CB8AC3E}">
        <p14:creationId xmlns:p14="http://schemas.microsoft.com/office/powerpoint/2010/main" val="4197809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E3CC-48D1-9952-74CB-0A87DE438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the System Works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33442-544A-8B4F-49C4-01D36701F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 learner initiates a learning request via Chat, Slack, Teams, or Web.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Main Orchestrator Agent</a:t>
            </a:r>
            <a:r>
              <a:rPr lang="en-US" dirty="0"/>
              <a:t> routes the request and collects learner context.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Scheduler Tool</a:t>
            </a:r>
            <a:r>
              <a:rPr lang="en-US" dirty="0"/>
              <a:t> sets up the learning session and future follow-up.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Concept Teaching Agent</a:t>
            </a:r>
            <a:r>
              <a:rPr lang="en-US" dirty="0"/>
              <a:t> explains the topic.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Real-Time Example Agent</a:t>
            </a:r>
            <a:r>
              <a:rPr lang="en-US" dirty="0"/>
              <a:t> reinforces learning with practical scenarios.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After a defined delay, the </a:t>
            </a:r>
            <a:r>
              <a:rPr lang="en-US" b="1" dirty="0"/>
              <a:t>Follow-Up Agent</a:t>
            </a:r>
            <a:r>
              <a:rPr lang="en-US" dirty="0"/>
              <a:t> triggers an assessment.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Assessment Agent</a:t>
            </a:r>
            <a:r>
              <a:rPr lang="en-US" dirty="0"/>
              <a:t> evaluates the learner’s understanding.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the learner passes, the </a:t>
            </a:r>
            <a:r>
              <a:rPr lang="en-US" b="1" dirty="0"/>
              <a:t>HR Skill Update Tool</a:t>
            </a:r>
            <a:r>
              <a:rPr lang="en-US" dirty="0"/>
              <a:t> updates the enterprise HR system.</a:t>
            </a:r>
          </a:p>
          <a:p>
            <a:r>
              <a:rPr lang="en-US" dirty="0"/>
              <a:t>This ensures that </a:t>
            </a:r>
            <a:r>
              <a:rPr lang="en-US" b="1" dirty="0"/>
              <a:t>skills are only recorded when they are demonstrated and validated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895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DF4E08-C26D-6477-7015-5A08F0A38031}"/>
              </a:ext>
            </a:extLst>
          </p:cNvPr>
          <p:cNvSpPr txBox="1"/>
          <p:nvPr/>
        </p:nvSpPr>
        <p:spPr>
          <a:xfrm>
            <a:off x="713664" y="354420"/>
            <a:ext cx="10764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i="1" u="sng" dirty="0"/>
              <a:t>STEP-BY-STEP WORKFLOW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BB1C8-AB24-0EBA-675D-E4F8065ACE3B}"/>
              </a:ext>
            </a:extLst>
          </p:cNvPr>
          <p:cNvSpPr/>
          <p:nvPr/>
        </p:nvSpPr>
        <p:spPr>
          <a:xfrm>
            <a:off x="1037230" y="1214651"/>
            <a:ext cx="2306471" cy="117370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Entry Point (User → System)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D0191B-EDF2-4EE0-531A-4A9C5264A519}"/>
              </a:ext>
            </a:extLst>
          </p:cNvPr>
          <p:cNvSpPr/>
          <p:nvPr/>
        </p:nvSpPr>
        <p:spPr>
          <a:xfrm>
            <a:off x="1037230" y="2947916"/>
            <a:ext cx="2306471" cy="1173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 Orchestrator Agent (Brain)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748A9E-0CC3-55B4-BBCF-D0812CBC6B04}"/>
              </a:ext>
            </a:extLst>
          </p:cNvPr>
          <p:cNvSpPr/>
          <p:nvPr/>
        </p:nvSpPr>
        <p:spPr>
          <a:xfrm>
            <a:off x="1037230" y="4804012"/>
            <a:ext cx="2306471" cy="10372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Learner Profile Agent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4F420-28C5-22F4-D7A1-B9A8B3E527A4}"/>
              </a:ext>
            </a:extLst>
          </p:cNvPr>
          <p:cNvSpPr/>
          <p:nvPr/>
        </p:nvSpPr>
        <p:spPr>
          <a:xfrm>
            <a:off x="4485565" y="4804011"/>
            <a:ext cx="2160895" cy="103723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Scheduler Tool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707B0-D06F-756D-1B0C-116EDB0AF254}"/>
              </a:ext>
            </a:extLst>
          </p:cNvPr>
          <p:cNvSpPr/>
          <p:nvPr/>
        </p:nvSpPr>
        <p:spPr>
          <a:xfrm>
            <a:off x="4485565" y="2947916"/>
            <a:ext cx="2160895" cy="1173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Concept Teaching Agent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2EE138-DE2B-BD65-6F05-03AB7D041C18}"/>
              </a:ext>
            </a:extLst>
          </p:cNvPr>
          <p:cNvSpPr/>
          <p:nvPr/>
        </p:nvSpPr>
        <p:spPr>
          <a:xfrm>
            <a:off x="4485565" y="1214651"/>
            <a:ext cx="2160895" cy="1173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Real-Time Example Agent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1535A0-BDCC-104D-3F8E-2A78F4812C1C}"/>
              </a:ext>
            </a:extLst>
          </p:cNvPr>
          <p:cNvSpPr/>
          <p:nvPr/>
        </p:nvSpPr>
        <p:spPr>
          <a:xfrm>
            <a:off x="7788324" y="1214651"/>
            <a:ext cx="2006221" cy="1173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Follow-Up Agent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94BC80-3CF8-716B-120D-0EB087A39EB4}"/>
              </a:ext>
            </a:extLst>
          </p:cNvPr>
          <p:cNvSpPr/>
          <p:nvPr/>
        </p:nvSpPr>
        <p:spPr>
          <a:xfrm>
            <a:off x="7788323" y="2947916"/>
            <a:ext cx="2006221" cy="1173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Assessment Agent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4473F-F39B-2D53-BCE5-DAB5A0AA41ED}"/>
              </a:ext>
            </a:extLst>
          </p:cNvPr>
          <p:cNvSpPr/>
          <p:nvPr/>
        </p:nvSpPr>
        <p:spPr>
          <a:xfrm>
            <a:off x="7710985" y="4681181"/>
            <a:ext cx="2160895" cy="103723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HR Skill Update Tool</a:t>
            </a:r>
          </a:p>
        </p:txBody>
      </p: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68FB1E74-5748-7DF7-1489-9CF0D10BC3FC}"/>
              </a:ext>
            </a:extLst>
          </p:cNvPr>
          <p:cNvSpPr/>
          <p:nvPr/>
        </p:nvSpPr>
        <p:spPr>
          <a:xfrm>
            <a:off x="10683923" y="2388359"/>
            <a:ext cx="1189630" cy="1378424"/>
          </a:xfrm>
          <a:prstGeom prst="flowChartMagneticDisk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HR Database</a:t>
            </a:r>
            <a:endParaRPr lang="en-IN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168993-BB05-F941-1CEB-812B67B39C5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190466" y="2388359"/>
            <a:ext cx="0" cy="55955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0A9006-E51E-448D-BD5B-38B117D289C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190466" y="4121624"/>
            <a:ext cx="0" cy="6823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BCB766-9BD0-2EA1-F48E-3ACC4EF9054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343701" y="5322627"/>
            <a:ext cx="1141864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86022B-7780-A2DD-F444-A26987B606A7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5566013" y="4121624"/>
            <a:ext cx="0" cy="68238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5DB757-7008-59C9-C2F7-B4F6793E565D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>
          <a:xfrm flipV="1">
            <a:off x="5566013" y="2388359"/>
            <a:ext cx="0" cy="55955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E31F6EA-B2A2-A502-A1D0-2AD7BC80397F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6646460" y="1801505"/>
            <a:ext cx="1141864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22B1BBC-E00C-36DD-1C28-9657A7F39D6A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8791434" y="2388359"/>
            <a:ext cx="1" cy="55955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DF95D37-6B34-2B0C-6A89-F7BFB278D5DE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8791433" y="4121624"/>
            <a:ext cx="1" cy="55955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E286EAC5-E111-22C1-7763-C8C8D34EEF61}"/>
              </a:ext>
            </a:extLst>
          </p:cNvPr>
          <p:cNvCxnSpPr>
            <a:cxnSpLocks/>
            <a:stCxn id="16" idx="3"/>
            <a:endCxn id="17" idx="3"/>
          </p:cNvCxnSpPr>
          <p:nvPr/>
        </p:nvCxnSpPr>
        <p:spPr>
          <a:xfrm flipV="1">
            <a:off x="9871880" y="3766783"/>
            <a:ext cx="1406858" cy="1433014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010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D31292F-FC4C-A94C-2077-18324EAE1C8C}"/>
              </a:ext>
            </a:extLst>
          </p:cNvPr>
          <p:cNvSpPr/>
          <p:nvPr/>
        </p:nvSpPr>
        <p:spPr>
          <a:xfrm>
            <a:off x="4421872" y="2857102"/>
            <a:ext cx="2606723" cy="1323833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 orchestra Agent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B780B-9F44-5448-DD98-41F7DC627A67}"/>
              </a:ext>
            </a:extLst>
          </p:cNvPr>
          <p:cNvSpPr txBox="1"/>
          <p:nvPr/>
        </p:nvSpPr>
        <p:spPr>
          <a:xfrm>
            <a:off x="713664" y="354420"/>
            <a:ext cx="10764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i="1" u="sng" dirty="0"/>
              <a:t>ARCHITECTURE OF SYSTEM: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AA02D5-66A7-FE4D-CC2B-4164E4C38CAB}"/>
              </a:ext>
            </a:extLst>
          </p:cNvPr>
          <p:cNvSpPr/>
          <p:nvPr/>
        </p:nvSpPr>
        <p:spPr>
          <a:xfrm>
            <a:off x="4790361" y="1055472"/>
            <a:ext cx="1869743" cy="83251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Entry Point (User → System)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AB4B3-E70A-1FBE-3270-960A9AD4D375}"/>
              </a:ext>
            </a:extLst>
          </p:cNvPr>
          <p:cNvSpPr/>
          <p:nvPr/>
        </p:nvSpPr>
        <p:spPr>
          <a:xfrm>
            <a:off x="2712786" y="5036276"/>
            <a:ext cx="1965277" cy="832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Learner Profile Agent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9A9D8-0CE4-4FAB-B56B-EC53B140E2EE}"/>
              </a:ext>
            </a:extLst>
          </p:cNvPr>
          <p:cNvSpPr/>
          <p:nvPr/>
        </p:nvSpPr>
        <p:spPr>
          <a:xfrm>
            <a:off x="934029" y="3365480"/>
            <a:ext cx="1778757" cy="955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Concept Teaching 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7F851-C32A-1A71-7E3A-B6997D158FB9}"/>
              </a:ext>
            </a:extLst>
          </p:cNvPr>
          <p:cNvSpPr/>
          <p:nvPr/>
        </p:nvSpPr>
        <p:spPr>
          <a:xfrm>
            <a:off x="5626425" y="5227856"/>
            <a:ext cx="1869743" cy="832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Real-Time Example Agent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D8D40A-E07E-7553-6517-137DCB9D86A4}"/>
              </a:ext>
            </a:extLst>
          </p:cNvPr>
          <p:cNvSpPr/>
          <p:nvPr/>
        </p:nvSpPr>
        <p:spPr>
          <a:xfrm>
            <a:off x="9201422" y="2924031"/>
            <a:ext cx="1765110" cy="83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Assessment Agent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2A49B2-DD85-C144-5A13-F70D18036319}"/>
              </a:ext>
            </a:extLst>
          </p:cNvPr>
          <p:cNvSpPr/>
          <p:nvPr/>
        </p:nvSpPr>
        <p:spPr>
          <a:xfrm>
            <a:off x="1401733" y="2047291"/>
            <a:ext cx="2160333" cy="777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Follow-Up Agent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7DECA0-665A-4C7E-9386-2406DDB10C99}"/>
              </a:ext>
            </a:extLst>
          </p:cNvPr>
          <p:cNvSpPr/>
          <p:nvPr/>
        </p:nvSpPr>
        <p:spPr>
          <a:xfrm>
            <a:off x="8098236" y="4378698"/>
            <a:ext cx="1985741" cy="95534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Scheduler Tool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9F5288-8EC6-6AE4-73AD-BB5F8556C5EC}"/>
              </a:ext>
            </a:extLst>
          </p:cNvPr>
          <p:cNvSpPr/>
          <p:nvPr/>
        </p:nvSpPr>
        <p:spPr>
          <a:xfrm>
            <a:off x="7638750" y="1523957"/>
            <a:ext cx="1769662" cy="77792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HR Skill Update Tool</a:t>
            </a: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49F7E421-5B29-97FA-C819-D5D41DE01139}"/>
              </a:ext>
            </a:extLst>
          </p:cNvPr>
          <p:cNvSpPr/>
          <p:nvPr/>
        </p:nvSpPr>
        <p:spPr>
          <a:xfrm>
            <a:off x="10530327" y="1094055"/>
            <a:ext cx="1189630" cy="1378424"/>
          </a:xfrm>
          <a:prstGeom prst="flowChartMagneticDisk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HR Database</a:t>
            </a:r>
            <a:endParaRPr lang="en-IN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E8901E-B135-890E-81AF-57ACEAF77F3A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>
            <a:off x="5725233" y="1887985"/>
            <a:ext cx="1" cy="96911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889804-FBB2-4C9F-038F-396DF9C7219A}"/>
              </a:ext>
            </a:extLst>
          </p:cNvPr>
          <p:cNvCxnSpPr>
            <a:cxnSpLocks/>
            <a:stCxn id="2" idx="1"/>
            <a:endCxn id="11" idx="3"/>
          </p:cNvCxnSpPr>
          <p:nvPr/>
        </p:nvCxnSpPr>
        <p:spPr>
          <a:xfrm flipH="1" flipV="1">
            <a:off x="3562066" y="2436252"/>
            <a:ext cx="1241552" cy="61472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41EC926-5D3C-3073-1C1B-27D06D8F4C47}"/>
              </a:ext>
            </a:extLst>
          </p:cNvPr>
          <p:cNvCxnSpPr>
            <a:cxnSpLocks/>
            <a:stCxn id="8" idx="3"/>
            <a:endCxn id="2" idx="2"/>
          </p:cNvCxnSpPr>
          <p:nvPr/>
        </p:nvCxnSpPr>
        <p:spPr>
          <a:xfrm flipV="1">
            <a:off x="2712786" y="3519019"/>
            <a:ext cx="1709086" cy="324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10ECCFD-95AE-FEC0-2892-30C370EBFAD8}"/>
              </a:ext>
            </a:extLst>
          </p:cNvPr>
          <p:cNvCxnSpPr>
            <a:cxnSpLocks/>
          </p:cNvCxnSpPr>
          <p:nvPr/>
        </p:nvCxnSpPr>
        <p:spPr>
          <a:xfrm flipH="1">
            <a:off x="2712786" y="3599240"/>
            <a:ext cx="1709086" cy="32413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97ABAC0-3734-3809-754F-3FEDE499A94B}"/>
              </a:ext>
            </a:extLst>
          </p:cNvPr>
          <p:cNvCxnSpPr>
            <a:cxnSpLocks/>
          </p:cNvCxnSpPr>
          <p:nvPr/>
        </p:nvCxnSpPr>
        <p:spPr>
          <a:xfrm>
            <a:off x="3562066" y="2323545"/>
            <a:ext cx="1405719" cy="69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71D536-0789-5CD7-2BC3-255CF3BB1FB1}"/>
              </a:ext>
            </a:extLst>
          </p:cNvPr>
          <p:cNvCxnSpPr>
            <a:cxnSpLocks/>
            <a:endCxn id="2" idx="3"/>
          </p:cNvCxnSpPr>
          <p:nvPr/>
        </p:nvCxnSpPr>
        <p:spPr>
          <a:xfrm flipV="1">
            <a:off x="3746896" y="3987064"/>
            <a:ext cx="1056722" cy="1044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893AB33-B3FB-9C03-F071-AB99CBF0595E}"/>
              </a:ext>
            </a:extLst>
          </p:cNvPr>
          <p:cNvCxnSpPr>
            <a:cxnSpLocks/>
          </p:cNvCxnSpPr>
          <p:nvPr/>
        </p:nvCxnSpPr>
        <p:spPr>
          <a:xfrm flipH="1">
            <a:off x="3929704" y="4067285"/>
            <a:ext cx="984336" cy="95424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5780DEB-1386-E158-036E-10FF89FC9FE9}"/>
              </a:ext>
            </a:extLst>
          </p:cNvPr>
          <p:cNvCxnSpPr>
            <a:cxnSpLocks/>
            <a:stCxn id="2" idx="4"/>
          </p:cNvCxnSpPr>
          <p:nvPr/>
        </p:nvCxnSpPr>
        <p:spPr>
          <a:xfrm>
            <a:off x="5725234" y="4180935"/>
            <a:ext cx="836062" cy="104692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A44673D-A9A8-8A04-C0E8-77DB3BE0926E}"/>
              </a:ext>
            </a:extLst>
          </p:cNvPr>
          <p:cNvCxnSpPr>
            <a:cxnSpLocks/>
            <a:stCxn id="2" idx="5"/>
            <a:endCxn id="12" idx="1"/>
          </p:cNvCxnSpPr>
          <p:nvPr/>
        </p:nvCxnSpPr>
        <p:spPr>
          <a:xfrm>
            <a:off x="6646849" y="3987064"/>
            <a:ext cx="1451387" cy="86930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073A50E-864C-8697-9F6E-5AEF0A0E0BFA}"/>
              </a:ext>
            </a:extLst>
          </p:cNvPr>
          <p:cNvCxnSpPr>
            <a:cxnSpLocks/>
            <a:stCxn id="2" idx="6"/>
            <a:endCxn id="10" idx="1"/>
          </p:cNvCxnSpPr>
          <p:nvPr/>
        </p:nvCxnSpPr>
        <p:spPr>
          <a:xfrm flipV="1">
            <a:off x="7028595" y="3340288"/>
            <a:ext cx="2172827" cy="17873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C01A26-3C70-3C47-FC70-4FAB6DC38D3E}"/>
              </a:ext>
            </a:extLst>
          </p:cNvPr>
          <p:cNvCxnSpPr>
            <a:cxnSpLocks/>
            <a:stCxn id="2" idx="7"/>
            <a:endCxn id="13" idx="1"/>
          </p:cNvCxnSpPr>
          <p:nvPr/>
        </p:nvCxnSpPr>
        <p:spPr>
          <a:xfrm flipV="1">
            <a:off x="6646849" y="1912918"/>
            <a:ext cx="991901" cy="113805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ACA9913-D731-8143-5943-57CC35590B85}"/>
              </a:ext>
            </a:extLst>
          </p:cNvPr>
          <p:cNvCxnSpPr>
            <a:cxnSpLocks/>
            <a:stCxn id="13" idx="3"/>
            <a:endCxn id="14" idx="2"/>
          </p:cNvCxnSpPr>
          <p:nvPr/>
        </p:nvCxnSpPr>
        <p:spPr>
          <a:xfrm flipV="1">
            <a:off x="9408412" y="1783267"/>
            <a:ext cx="1121915" cy="12965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50AB2E8-26D4-3C9D-3E61-3FCEC92C8350}"/>
              </a:ext>
            </a:extLst>
          </p:cNvPr>
          <p:cNvSpPr txBox="1"/>
          <p:nvPr/>
        </p:nvSpPr>
        <p:spPr>
          <a:xfrm rot="21184333">
            <a:off x="9613312" y="1521202"/>
            <a:ext cx="1409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API CALL</a:t>
            </a:r>
            <a:endParaRPr lang="en-IN" sz="1200" b="1" u="sng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BF33C65-E9D2-3CBE-49C0-B36A0B17141B}"/>
              </a:ext>
            </a:extLst>
          </p:cNvPr>
          <p:cNvCxnSpPr>
            <a:cxnSpLocks/>
          </p:cNvCxnSpPr>
          <p:nvPr/>
        </p:nvCxnSpPr>
        <p:spPr>
          <a:xfrm flipH="1" flipV="1">
            <a:off x="5850789" y="4180935"/>
            <a:ext cx="897596" cy="1046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180A4C1-CE29-D0BF-8D5D-7279A797564D}"/>
              </a:ext>
            </a:extLst>
          </p:cNvPr>
          <p:cNvCxnSpPr>
            <a:cxnSpLocks/>
          </p:cNvCxnSpPr>
          <p:nvPr/>
        </p:nvCxnSpPr>
        <p:spPr>
          <a:xfrm flipH="1" flipV="1">
            <a:off x="6564436" y="4020090"/>
            <a:ext cx="1524533" cy="942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3CB2074-0FB2-26E8-3A06-E5D3EF6C89ED}"/>
              </a:ext>
            </a:extLst>
          </p:cNvPr>
          <p:cNvCxnSpPr>
            <a:cxnSpLocks/>
          </p:cNvCxnSpPr>
          <p:nvPr/>
        </p:nvCxnSpPr>
        <p:spPr>
          <a:xfrm flipH="1">
            <a:off x="7028595" y="3220076"/>
            <a:ext cx="2237471" cy="183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E13CF82-E8A2-5EBE-43DD-BBF0BA35A2D3}"/>
              </a:ext>
            </a:extLst>
          </p:cNvPr>
          <p:cNvCxnSpPr>
            <a:cxnSpLocks/>
          </p:cNvCxnSpPr>
          <p:nvPr/>
        </p:nvCxnSpPr>
        <p:spPr>
          <a:xfrm flipH="1">
            <a:off x="6770262" y="2163684"/>
            <a:ext cx="868488" cy="939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3451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{B3E67B6F-2785-487B-BA84-92A30F73840E}TF235124e3-e6db-4c6d-93c8-733f2fadbc609fb6f57c_win32-b1e91d96f19e</Template>
  <TotalTime>65</TotalTime>
  <Words>425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 Pro Cond Light</vt:lpstr>
      <vt:lpstr>Speak Pro</vt:lpstr>
      <vt:lpstr>RetrospectVTI</vt:lpstr>
      <vt:lpstr>AI-Driven Personalized Learning Agent</vt:lpstr>
      <vt:lpstr>Problem Statement</vt:lpstr>
      <vt:lpstr>Solution Overview</vt:lpstr>
      <vt:lpstr>Key Architectural Principles</vt:lpstr>
      <vt:lpstr>How the System Works 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veadhanayaham veadha</dc:creator>
  <cp:lastModifiedBy>veadhanayaham veadha</cp:lastModifiedBy>
  <cp:revision>1</cp:revision>
  <dcterms:created xsi:type="dcterms:W3CDTF">2026-02-01T13:07:49Z</dcterms:created>
  <dcterms:modified xsi:type="dcterms:W3CDTF">2026-02-01T14:13:21Z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