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3" r:id="rId7"/>
    <p:sldId id="262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B6B43-321B-1FCD-45C4-3558D1D34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E025A-03B8-4831-AB05-EF8298CC0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8118D-9AA9-93D3-6F44-A2A220E30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5861-271C-4272-B690-E7340A6EC09E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5C5C3-7C87-E4F2-F73C-C0ED2429A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8C3FF-E709-F15F-CF12-EB084108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1D0E-9EB0-4BF0-A566-D6748208A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472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3FC5E-58CF-DD0B-B85E-CF205C87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8841-D23A-65A6-535F-F4D46A789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A5791-BB58-A033-D277-ADBEBF5D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5861-271C-4272-B690-E7340A6EC09E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0935A-CBCD-DCC9-0398-A47B568EE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3C49C-F6C5-F220-3237-A1CC0078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1D0E-9EB0-4BF0-A566-D6748208A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50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1664D-A1A4-4A43-CCFE-EDCE875F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A80AE-0E4A-4989-B15B-5A20E7DFF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81F82-06BD-D7A1-11FE-E78888145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5861-271C-4272-B690-E7340A6EC09E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20489-DE9B-6A02-B84A-3EBE56A2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97CA9-16D1-0245-3683-961661ECC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1D0E-9EB0-4BF0-A566-D6748208A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37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3905-EB94-A909-2FFA-AC099E41D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EC8C3-52DB-1882-7C0C-C6D7B40E9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31965-9BFC-33F4-B48E-BACDF1CF2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167AA-0BA9-78C4-9DC4-767C97C8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5861-271C-4272-B690-E7340A6EC09E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71DAE-59C5-CF3E-9516-DE5C3F51C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FD5C1-442F-DFEA-4A52-B094E13BE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1D0E-9EB0-4BF0-A566-D6748208A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031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8AF0-5CB8-5967-228F-C34B50E2B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BC4F0-7329-4821-256C-E376E1C46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61708-9902-167F-A5D7-EF0FD5F18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E86A55-4D3F-E20D-F17C-0D34D909DC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1B2E51-1023-4860-00EF-9E21F32F5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EAB527-6D5F-BCC8-A152-6AB722BF6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5861-271C-4272-B690-E7340A6EC09E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D76415-87CD-3DA8-5575-C9BB914C5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692F7C-E1D8-6E37-AE57-F05FF66C0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1D0E-9EB0-4BF0-A566-D6748208A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138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8E779-A8CE-BE01-952E-4FC3821A3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6D415-41EE-A80B-6E8D-2EDE0E9A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5861-271C-4272-B690-E7340A6EC09E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04DA-556B-BF0A-FD64-0DA4EDC4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9DFD1-61AF-12B2-319B-8EF1099D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1D0E-9EB0-4BF0-A566-D6748208A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53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02BE93-874B-A8E0-E40A-0A08B6F0E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5861-271C-4272-B690-E7340A6EC09E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767E3-AB17-E7F3-7CF8-DF0EF8E09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2FEC3-8ACA-6C74-24DB-A33DE6F8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1D0E-9EB0-4BF0-A566-D6748208A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59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CA217-E0E6-1502-82D3-68B2C506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C941B-3204-67D5-045F-251677CB1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770FE-B4AF-19E2-B331-5FF986D42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1CDF1-B0E4-7D48-B04B-10F51271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5861-271C-4272-B690-E7340A6EC09E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8EAF5-5011-02DD-F802-644C3548E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59C8C-9072-D36B-0B3E-4BE802EE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1D0E-9EB0-4BF0-A566-D6748208A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427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79D9-BFA8-8334-1CCB-6BA67149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44DE1-C2A9-85A4-ECF6-D569FA479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0621C-7B24-787F-C44B-E0A774986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8C681-539E-2BC5-6E4B-65B453F1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5861-271C-4272-B690-E7340A6EC09E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1AE83-5ADF-7EF1-9410-EB9FBDBB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65A94-BED3-7B16-3DF1-951B13EBD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1D0E-9EB0-4BF0-A566-D6748208A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530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D889C-EB68-0C41-2706-16255A4D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520D2-4E2F-24F9-0B75-E50972F08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D2640-3275-FB04-A8AA-635F206E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5861-271C-4272-B690-E7340A6EC09E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D337B-F281-4697-F8E3-7B30E9B0A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C3E83-7577-838D-2FD8-F6397C23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1D0E-9EB0-4BF0-A566-D6748208A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96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472930-92C0-349A-8354-708704ACE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23C1A-8B36-8A97-8294-2F52DB9A9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9B7D0-E2E6-313D-14B9-BABAA29AE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5861-271C-4272-B690-E7340A6EC09E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C472E-135E-58AA-8417-9215A241D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AA8FD-CE1D-9824-77A4-F9C8D64D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81D0E-9EB0-4BF0-A566-D6748208A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700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01481-9A44-BBBD-7C1E-3DBF1F3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B2DD4-F6FC-BF1A-E106-BCF7674A9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D345C-379E-B618-7C04-061AA914E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85861-271C-4272-B690-E7340A6EC09E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83E70-1CE3-772F-B904-93DBC8213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1A108-5393-EEB9-8BD5-ED6D330B3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81D0E-9EB0-4BF0-A566-D6748208A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25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FF8AD-908B-A5F5-0E4B-FB102758D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AI-Driven Personalized Learning Orchestration</a:t>
            </a:r>
            <a:endParaRPr lang="en-IN" b="1" i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E6AE5-4CA3-EA13-2D0A-5294C27DE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9405"/>
            <a:ext cx="10515600" cy="4351338"/>
          </a:xfrm>
        </p:spPr>
        <p:txBody>
          <a:bodyPr/>
          <a:lstStyle/>
          <a:p>
            <a:pPr algn="l"/>
            <a:r>
              <a:rPr lang="en-US" dirty="0"/>
              <a:t>Problem Statement: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/>
            <a:r>
              <a:rPr lang="en-IN" dirty="0"/>
              <a:t>Solution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59C744-F158-21E3-C270-49275EC07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042" y="2516191"/>
            <a:ext cx="47320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/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A5277B-CB16-A95C-88FA-FF933C8AE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042" y="509643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AI-powered learning orchestration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watsonx Orchestrate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intelligent agents for reasoning and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tools for scheduling, assessment, and HR system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automates the learning lifecycle from onboarding to skill validation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1CAFE68-5BD1-040D-8ED6-8853CAF2E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765" y="28911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Enterprises struggle to deliver personalized learning at scale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schedules, assessments, and skill tracking are mostly manual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 systems are updated late or inconsistently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Learners lack structured follow-ups and outcome visibility</a:t>
            </a:r>
          </a:p>
        </p:txBody>
      </p:sp>
    </p:spTree>
    <p:extLst>
      <p:ext uri="{BB962C8B-B14F-4D97-AF65-F5344CB8AC3E}">
        <p14:creationId xmlns:p14="http://schemas.microsoft.com/office/powerpoint/2010/main" val="3999190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944980-1BDF-6661-7F9B-914B28E263A2}"/>
              </a:ext>
            </a:extLst>
          </p:cNvPr>
          <p:cNvSpPr txBox="1"/>
          <p:nvPr/>
        </p:nvSpPr>
        <p:spPr>
          <a:xfrm>
            <a:off x="3046880" y="339770"/>
            <a:ext cx="60982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/>
              <a:t>System Architecture Overview</a:t>
            </a:r>
          </a:p>
          <a:p>
            <a:pPr algn="ctr"/>
            <a:r>
              <a:rPr lang="en-IN" sz="2000" dirty="0"/>
              <a:t>High-Level System Architecture</a:t>
            </a:r>
            <a:endParaRPr lang="en-IN" sz="2000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1409E2-A47A-EE7F-7947-509ACFE33F7D}"/>
              </a:ext>
            </a:extLst>
          </p:cNvPr>
          <p:cNvSpPr txBox="1"/>
          <p:nvPr/>
        </p:nvSpPr>
        <p:spPr>
          <a:xfrm>
            <a:off x="1220321" y="1415534"/>
            <a:ext cx="609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/>
              <a:t>Architecture Overview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1F60BBC-DF7D-BF91-5BD9-1F8FAAC32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48770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follows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orchestration architecture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interact directly with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Orchestrator Agent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orchestrator coordinates multiple specialized agents and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 handle reasoning and context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handle execution, scheduling, and system updates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3B06E3-DD96-577A-8DE7-AFFB3C4A225A}"/>
              </a:ext>
            </a:extLst>
          </p:cNvPr>
          <p:cNvSpPr txBox="1"/>
          <p:nvPr/>
        </p:nvSpPr>
        <p:spPr>
          <a:xfrm>
            <a:off x="1220321" y="3429000"/>
            <a:ext cx="609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u="sng" dirty="0"/>
              <a:t>Design Principle</a:t>
            </a:r>
            <a:endParaRPr lang="en-IN" sz="2000" b="1" u="sng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AE74D445-19B4-0F67-591A-05B948439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2627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separation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 (agents)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 (tools)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reliability, auditability, and scalability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Aligns with enterprise orchestration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2515388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3F3809D-04E7-51C2-B0B1-F2E5826B268A}"/>
              </a:ext>
            </a:extLst>
          </p:cNvPr>
          <p:cNvSpPr/>
          <p:nvPr/>
        </p:nvSpPr>
        <p:spPr>
          <a:xfrm>
            <a:off x="1661374" y="721217"/>
            <a:ext cx="2189409" cy="8500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User (IBM </a:t>
            </a:r>
            <a:r>
              <a:rPr lang="en-IN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watsonx</a:t>
            </a:r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Orchestrate UI)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40D22-640B-578F-99C4-5B23EFA0381E}"/>
              </a:ext>
            </a:extLst>
          </p:cNvPr>
          <p:cNvSpPr/>
          <p:nvPr/>
        </p:nvSpPr>
        <p:spPr>
          <a:xfrm>
            <a:off x="1661374" y="2032716"/>
            <a:ext cx="2189409" cy="8500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Main Orchestrator Agent (Intent + Flow Control)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7A19D8-2590-42FE-A281-ECEC2AEF8F60}"/>
              </a:ext>
            </a:extLst>
          </p:cNvPr>
          <p:cNvSpPr/>
          <p:nvPr/>
        </p:nvSpPr>
        <p:spPr>
          <a:xfrm>
            <a:off x="1661373" y="3344215"/>
            <a:ext cx="2189409" cy="8500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Learner Profile Agent (Collects user context) 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520969-FEF4-8F7E-ED35-5CEA857E83CD}"/>
              </a:ext>
            </a:extLst>
          </p:cNvPr>
          <p:cNvSpPr/>
          <p:nvPr/>
        </p:nvSpPr>
        <p:spPr>
          <a:xfrm>
            <a:off x="1481066" y="4559124"/>
            <a:ext cx="2537141" cy="946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Learning Plan Generator Tool (Creates learning timetable)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462828-C7CD-6B88-A817-D64DB269DBA7}"/>
              </a:ext>
            </a:extLst>
          </p:cNvPr>
          <p:cNvSpPr/>
          <p:nvPr/>
        </p:nvSpPr>
        <p:spPr>
          <a:xfrm>
            <a:off x="5001295" y="4607419"/>
            <a:ext cx="2189409" cy="8500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Scheduler Tool(Schedules learning &amp; exam)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4F6A59-3193-0D61-462F-336A52053330}"/>
              </a:ext>
            </a:extLst>
          </p:cNvPr>
          <p:cNvSpPr/>
          <p:nvPr/>
        </p:nvSpPr>
        <p:spPr>
          <a:xfrm>
            <a:off x="5001293" y="3325702"/>
            <a:ext cx="2189409" cy="8500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Concept Teaching Agent (Delivers learning content)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BB0512-9F52-D3FB-1E3F-C9603F9633DE}"/>
              </a:ext>
            </a:extLst>
          </p:cNvPr>
          <p:cNvSpPr/>
          <p:nvPr/>
        </p:nvSpPr>
        <p:spPr>
          <a:xfrm>
            <a:off x="5001294" y="2043986"/>
            <a:ext cx="2189409" cy="8500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Real-Time Example Agent (Practical examples)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CC7FE7-036B-2880-5B51-6D276D43BDD1}"/>
              </a:ext>
            </a:extLst>
          </p:cNvPr>
          <p:cNvSpPr/>
          <p:nvPr/>
        </p:nvSpPr>
        <p:spPr>
          <a:xfrm>
            <a:off x="5001294" y="708338"/>
            <a:ext cx="2189409" cy="8500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Assessment Tool (Quiz + Evaluation)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A4A966-960F-D783-6D21-D51BCB61A340}"/>
              </a:ext>
            </a:extLst>
          </p:cNvPr>
          <p:cNvSpPr/>
          <p:nvPr/>
        </p:nvSpPr>
        <p:spPr>
          <a:xfrm>
            <a:off x="9247026" y="804930"/>
            <a:ext cx="1614155" cy="6568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Pass? </a:t>
            </a: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6F0BD0-15D4-3189-DEE5-5F80578175C8}"/>
              </a:ext>
            </a:extLst>
          </p:cNvPr>
          <p:cNvSpPr/>
          <p:nvPr/>
        </p:nvSpPr>
        <p:spPr>
          <a:xfrm>
            <a:off x="8959398" y="1988716"/>
            <a:ext cx="2189409" cy="8500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HR Skill Update </a:t>
            </a:r>
          </a:p>
          <a:p>
            <a:pPr algn="ctr"/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Tool (API / Mock)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82506AB-046A-81A2-36AE-0CB030CC0A9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756079" y="1571223"/>
            <a:ext cx="0" cy="461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DD16F3-3C93-DE10-8BE7-4CA7A4B6357F}"/>
              </a:ext>
            </a:extLst>
          </p:cNvPr>
          <p:cNvCxnSpPr>
            <a:cxnSpLocks/>
          </p:cNvCxnSpPr>
          <p:nvPr/>
        </p:nvCxnSpPr>
        <p:spPr>
          <a:xfrm>
            <a:off x="2721732" y="2864209"/>
            <a:ext cx="0" cy="461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DF31AF-DD17-7410-0E68-431C18E3E749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2749637" y="4194221"/>
            <a:ext cx="6441" cy="364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AF43837-FA04-70A1-F1E0-B0CB91E83D8A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4018207" y="5032422"/>
            <a:ext cx="9830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61C982B-5347-CE2C-947E-9CE366E34355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flipH="1" flipV="1">
            <a:off x="6095998" y="4175708"/>
            <a:ext cx="2" cy="431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71133AB-9E44-1087-DAE7-152E7ECB71D9}"/>
              </a:ext>
            </a:extLst>
          </p:cNvPr>
          <p:cNvCxnSpPr>
            <a:cxnSpLocks/>
            <a:stCxn id="13" idx="0"/>
            <a:endCxn id="14" idx="2"/>
          </p:cNvCxnSpPr>
          <p:nvPr/>
        </p:nvCxnSpPr>
        <p:spPr>
          <a:xfrm flipV="1">
            <a:off x="6095998" y="2893992"/>
            <a:ext cx="1" cy="431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29533AF-5EFC-66D8-90D4-F490A8290C65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6095999" y="1558344"/>
            <a:ext cx="0" cy="485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0D369A8-C2B3-7B14-70FB-6C9C91709CF8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7190703" y="1133341"/>
            <a:ext cx="20563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B516CA8-5D8D-FAC5-6FB9-9C4DCB03835E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10054103" y="1461752"/>
            <a:ext cx="1" cy="526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84C1E94-1DB0-AE32-419D-C451F9E05357}"/>
              </a:ext>
            </a:extLst>
          </p:cNvPr>
          <p:cNvSpPr txBox="1"/>
          <p:nvPr/>
        </p:nvSpPr>
        <p:spPr>
          <a:xfrm>
            <a:off x="7733759" y="3429000"/>
            <a:ext cx="42564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Main Orchestrator Agent controls the flow, delegates reasoning to specialized agents, and invokes tools for deterministic actions like scheduling, assessment, and HR updates</a:t>
            </a:r>
            <a:endParaRPr lang="en-IN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861D85-272D-C983-EEF0-853985FA9B41}"/>
              </a:ext>
            </a:extLst>
          </p:cNvPr>
          <p:cNvSpPr txBox="1"/>
          <p:nvPr/>
        </p:nvSpPr>
        <p:spPr>
          <a:xfrm>
            <a:off x="801709" y="149926"/>
            <a:ext cx="60981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i="1" u="sng" dirty="0"/>
              <a:t>Workflow(Linear sequence):-</a:t>
            </a:r>
          </a:p>
        </p:txBody>
      </p:sp>
    </p:spTree>
    <p:extLst>
      <p:ext uri="{BB962C8B-B14F-4D97-AF65-F5344CB8AC3E}">
        <p14:creationId xmlns:p14="http://schemas.microsoft.com/office/powerpoint/2010/main" val="1297880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ADC313-41D3-759E-353D-3F15D4CE63B8}"/>
              </a:ext>
            </a:extLst>
          </p:cNvPr>
          <p:cNvSpPr txBox="1"/>
          <p:nvPr/>
        </p:nvSpPr>
        <p:spPr>
          <a:xfrm>
            <a:off x="2484344" y="380111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/>
              <a:t>Core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E1EE0-7EFE-AFEC-FC3C-C18DF33CCADD}"/>
              </a:ext>
            </a:extLst>
          </p:cNvPr>
          <p:cNvSpPr txBox="1"/>
          <p:nvPr/>
        </p:nvSpPr>
        <p:spPr>
          <a:xfrm>
            <a:off x="1153085" y="1106252"/>
            <a:ext cx="609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User Interface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BEE933-84E6-89AE-FB01-0D64C5CAF237}"/>
              </a:ext>
            </a:extLst>
          </p:cNvPr>
          <p:cNvSpPr txBox="1"/>
          <p:nvPr/>
        </p:nvSpPr>
        <p:spPr>
          <a:xfrm>
            <a:off x="1408579" y="1506362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Chat-based interaction through IBM </a:t>
            </a:r>
            <a:r>
              <a:rPr lang="en-US" dirty="0" err="1"/>
              <a:t>watsonx</a:t>
            </a:r>
            <a:r>
              <a:rPr lang="en-US" dirty="0"/>
              <a:t> Orchestrate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1724F6-CE0C-52EB-13B6-801DA5134F27}"/>
              </a:ext>
            </a:extLst>
          </p:cNvPr>
          <p:cNvSpPr txBox="1"/>
          <p:nvPr/>
        </p:nvSpPr>
        <p:spPr>
          <a:xfrm>
            <a:off x="1153085" y="1871862"/>
            <a:ext cx="609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Main Orchestrator Agent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0ACE4682-8AA4-B715-2746-ECC252EA0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278" y="263562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Understands user intent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Controls workflow execution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Routes tasks to agents and tools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7DBBEE-4140-C627-CD9E-B26A6936C80B}"/>
              </a:ext>
            </a:extLst>
          </p:cNvPr>
          <p:cNvSpPr txBox="1"/>
          <p:nvPr/>
        </p:nvSpPr>
        <p:spPr>
          <a:xfrm>
            <a:off x="1153085" y="3106561"/>
            <a:ext cx="609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Specialized Agents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9F9E33B-35E9-2FB1-373B-FFA6550AF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278" y="41013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Learner Profile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 Teaching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Example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Assessment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Follow-Up Agent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C3B67A-2FF8-DA53-96B2-0A0B13E8F3F5}"/>
              </a:ext>
            </a:extLst>
          </p:cNvPr>
          <p:cNvSpPr txBox="1"/>
          <p:nvPr/>
        </p:nvSpPr>
        <p:spPr>
          <a:xfrm>
            <a:off x="1153085" y="4842592"/>
            <a:ext cx="609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Enterprise Tools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7AC75CC6-C0EA-301A-C725-26CB67DD6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278" y="575534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Plan Generator Tool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Scheduler Tool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Assessment Tool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 Skill Update Tool</a:t>
            </a:r>
          </a:p>
        </p:txBody>
      </p:sp>
    </p:spTree>
    <p:extLst>
      <p:ext uri="{BB962C8B-B14F-4D97-AF65-F5344CB8AC3E}">
        <p14:creationId xmlns:p14="http://schemas.microsoft.com/office/powerpoint/2010/main" val="2036007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236044-E4B4-76E0-AA84-76C75ADFE8EF}"/>
              </a:ext>
            </a:extLst>
          </p:cNvPr>
          <p:cNvSpPr txBox="1"/>
          <p:nvPr/>
        </p:nvSpPr>
        <p:spPr>
          <a:xfrm>
            <a:off x="3046880" y="164957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Specialized Agents in the System</a:t>
            </a:r>
            <a:endParaRPr lang="en-IN" sz="3200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1DE8DB-98CF-1DFE-060C-41CFAFD76B2B}"/>
              </a:ext>
            </a:extLst>
          </p:cNvPr>
          <p:cNvSpPr txBox="1"/>
          <p:nvPr/>
        </p:nvSpPr>
        <p:spPr>
          <a:xfrm>
            <a:off x="991719" y="1066591"/>
            <a:ext cx="609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Role of Agents:-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AC7DE64-80BE-A303-043A-A290C240D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828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 are responsible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reasoning, interaction, and decision-making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do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 system actions directly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 collaborate through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Orchestrator Agent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977AA2-302D-7A11-E9BB-4EAEB443DEE8}"/>
              </a:ext>
            </a:extLst>
          </p:cNvPr>
          <p:cNvSpPr txBox="1"/>
          <p:nvPr/>
        </p:nvSpPr>
        <p:spPr>
          <a:xfrm>
            <a:off x="991719" y="2247795"/>
            <a:ext cx="6098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Main Orchestrator Agent:-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10243FB-1BB3-5CAF-4B27-A9C0F2505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59895"/>
            <a:ext cx="48686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Entry point for the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Understands user intent and learning goals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Controls the overall workflow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Decides when to invoke tools or other agents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42D99E-E25E-3D39-14C1-BCA51097D76E}"/>
              </a:ext>
            </a:extLst>
          </p:cNvPr>
          <p:cNvSpPr txBox="1"/>
          <p:nvPr/>
        </p:nvSpPr>
        <p:spPr>
          <a:xfrm>
            <a:off x="921024" y="3840764"/>
            <a:ext cx="60981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Specialized Agents:-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8834D5-A058-407B-62C3-9114C80C6EAD}"/>
              </a:ext>
            </a:extLst>
          </p:cNvPr>
          <p:cNvSpPr txBox="1"/>
          <p:nvPr/>
        </p:nvSpPr>
        <p:spPr>
          <a:xfrm>
            <a:off x="1143000" y="4321414"/>
            <a:ext cx="60981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Learner Profile Agent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Collects learner details such as role, experience, and preferences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Maintains learner context throughout the workflow</a:t>
            </a:r>
          </a:p>
          <a:p>
            <a:pPr>
              <a:buNone/>
            </a:pPr>
            <a:r>
              <a:rPr lang="en-US" b="1" dirty="0"/>
              <a:t>Concept Teaching Agent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Delivers structured explanations based on the learning plan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Adapts content to the learner’s experience level</a:t>
            </a:r>
          </a:p>
        </p:txBody>
      </p:sp>
    </p:spTree>
    <p:extLst>
      <p:ext uri="{BB962C8B-B14F-4D97-AF65-F5344CB8AC3E}">
        <p14:creationId xmlns:p14="http://schemas.microsoft.com/office/powerpoint/2010/main" val="1574859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EB1F2A4-8745-9AD6-B38F-C231D9DD26F1}"/>
              </a:ext>
            </a:extLst>
          </p:cNvPr>
          <p:cNvSpPr txBox="1"/>
          <p:nvPr/>
        </p:nvSpPr>
        <p:spPr>
          <a:xfrm>
            <a:off x="872544" y="4232684"/>
            <a:ext cx="6098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Design Choice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Agents focus only on </a:t>
            </a:r>
            <a:r>
              <a:rPr lang="en-US" b="1" dirty="0"/>
              <a:t>intelligence and reasoning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execution logic is delegated to tools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0752C-6FF6-1140-4ADE-538490A87697}"/>
              </a:ext>
            </a:extLst>
          </p:cNvPr>
          <p:cNvSpPr txBox="1"/>
          <p:nvPr/>
        </p:nvSpPr>
        <p:spPr>
          <a:xfrm>
            <a:off x="872544" y="725166"/>
            <a:ext cx="6098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Real-Time Example Agent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practical, real-world 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Reinforces understanding during learning sessions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B9CBB5-2D4D-6739-9433-2208D09A295E}"/>
              </a:ext>
            </a:extLst>
          </p:cNvPr>
          <p:cNvSpPr txBox="1"/>
          <p:nvPr/>
        </p:nvSpPr>
        <p:spPr>
          <a:xfrm>
            <a:off x="872544" y="1813172"/>
            <a:ext cx="6098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Assessment Agent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Conducts end-of-learning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Interprets assessment results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972BCA-0544-6145-F53C-8342C1C7484A}"/>
              </a:ext>
            </a:extLst>
          </p:cNvPr>
          <p:cNvSpPr txBox="1"/>
          <p:nvPr/>
        </p:nvSpPr>
        <p:spPr>
          <a:xfrm>
            <a:off x="872544" y="2967335"/>
            <a:ext cx="6098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Follow-Up Agent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Handles post-learning engagement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Manages reminders, reinforcement, and re-learning if required</a:t>
            </a:r>
          </a:p>
        </p:txBody>
      </p:sp>
    </p:spTree>
    <p:extLst>
      <p:ext uri="{BB962C8B-B14F-4D97-AF65-F5344CB8AC3E}">
        <p14:creationId xmlns:p14="http://schemas.microsoft.com/office/powerpoint/2010/main" val="105001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C62707-7702-4800-D984-86A3D74BD92A}"/>
              </a:ext>
            </a:extLst>
          </p:cNvPr>
          <p:cNvSpPr txBox="1"/>
          <p:nvPr/>
        </p:nvSpPr>
        <p:spPr>
          <a:xfrm>
            <a:off x="2752859" y="143744"/>
            <a:ext cx="60981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u="sng" dirty="0"/>
              <a:t>Complete Learning Lifecycle 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9AA40-951A-9F83-8475-0AF22D85BF0D}"/>
              </a:ext>
            </a:extLst>
          </p:cNvPr>
          <p:cNvSpPr txBox="1"/>
          <p:nvPr/>
        </p:nvSpPr>
        <p:spPr>
          <a:xfrm>
            <a:off x="962695" y="1051602"/>
            <a:ext cx="6098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1: User Initiation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accesses the system through IBM </a:t>
            </a:r>
            <a:r>
              <a:rPr lang="en-US" dirty="0" err="1"/>
              <a:t>watsonx</a:t>
            </a:r>
            <a:r>
              <a:rPr lang="en-US" dirty="0"/>
              <a:t> Orchestrate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profile details, learning topic, and available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23E913-85E3-1573-E066-02EE73F111CC}"/>
              </a:ext>
            </a:extLst>
          </p:cNvPr>
          <p:cNvSpPr txBox="1"/>
          <p:nvPr/>
        </p:nvSpPr>
        <p:spPr>
          <a:xfrm>
            <a:off x="962695" y="1974932"/>
            <a:ext cx="60981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2: Learning Plan Generation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 Orchestrator Agent invokes the Learning Plan Generator Tool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personalized learning timetable is created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C4F018-9E8B-A317-2330-3B333D8661CB}"/>
              </a:ext>
            </a:extLst>
          </p:cNvPr>
          <p:cNvSpPr txBox="1"/>
          <p:nvPr/>
        </p:nvSpPr>
        <p:spPr>
          <a:xfrm>
            <a:off x="962695" y="3175261"/>
            <a:ext cx="60981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3: Scheduling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Scheduler Tool processes the learning plan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Learning sessions, follow-ups, and assessment dates are scheduled automatically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B6C4BA-FBAF-9859-9E12-E20AD13DC240}"/>
              </a:ext>
            </a:extLst>
          </p:cNvPr>
          <p:cNvSpPr txBox="1"/>
          <p:nvPr/>
        </p:nvSpPr>
        <p:spPr>
          <a:xfrm>
            <a:off x="962695" y="4375590"/>
            <a:ext cx="60981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5: Assessment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syllabus completion, the Assessment Tool conducts an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Learner performance is measured objectively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87F222-2C5F-907D-72F3-45D023275160}"/>
              </a:ext>
            </a:extLst>
          </p:cNvPr>
          <p:cNvSpPr txBox="1"/>
          <p:nvPr/>
        </p:nvSpPr>
        <p:spPr>
          <a:xfrm>
            <a:off x="962695" y="5513927"/>
            <a:ext cx="60981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6: HR Skill Update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learner passes, validated skills are pushed to the HR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Results are stored for enterprise reporting and compliance</a:t>
            </a:r>
          </a:p>
        </p:txBody>
      </p:sp>
    </p:spTree>
    <p:extLst>
      <p:ext uri="{BB962C8B-B14F-4D97-AF65-F5344CB8AC3E}">
        <p14:creationId xmlns:p14="http://schemas.microsoft.com/office/powerpoint/2010/main" val="2951004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F0D1FC-26E5-5C72-CB38-9C417E0C5580}"/>
              </a:ext>
            </a:extLst>
          </p:cNvPr>
          <p:cNvSpPr txBox="1"/>
          <p:nvPr/>
        </p:nvSpPr>
        <p:spPr>
          <a:xfrm>
            <a:off x="3046880" y="121023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Tool Layer and System Execution</a:t>
            </a:r>
            <a:endParaRPr lang="en-IN" sz="32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A94B6-DE59-D7C2-E775-09D656F88F67}"/>
              </a:ext>
            </a:extLst>
          </p:cNvPr>
          <p:cNvSpPr txBox="1"/>
          <p:nvPr/>
        </p:nvSpPr>
        <p:spPr>
          <a:xfrm>
            <a:off x="964826" y="810417"/>
            <a:ext cx="60982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Purpose of the Tool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Tools perform </a:t>
            </a:r>
            <a:r>
              <a:rPr lang="en-US" b="1" dirty="0"/>
              <a:t>deterministic, auditable actions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execute tasks that must be accurate and repeatable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are invoked by agents but operate independently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 Layer and System Execution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411D3-C27D-8A53-B3C5-125D9344D3F8}"/>
              </a:ext>
            </a:extLst>
          </p:cNvPr>
          <p:cNvSpPr txBox="1"/>
          <p:nvPr/>
        </p:nvSpPr>
        <p:spPr>
          <a:xfrm>
            <a:off x="964826" y="2392364"/>
            <a:ext cx="60982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Learning Plan Generator Tool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Generates a personalized learning timetable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a generative model to structure the learning journey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Considers learner profile, topic, and available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Produces a learning plan consumed by the scheduler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81DA4F-8B38-7D51-E7B3-CEB9884647EE}"/>
              </a:ext>
            </a:extLst>
          </p:cNvPr>
          <p:cNvSpPr txBox="1"/>
          <p:nvPr/>
        </p:nvSpPr>
        <p:spPr>
          <a:xfrm>
            <a:off x="964826" y="3429000"/>
            <a:ext cx="60982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Scheduler Tool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as an </a:t>
            </a:r>
            <a:r>
              <a:rPr lang="en-US" b="1" dirty="0"/>
              <a:t>agentic workflow</a:t>
            </a:r>
            <a:r>
              <a:rPr lang="en-US" dirty="0"/>
              <a:t> with a </a:t>
            </a:r>
            <a:r>
              <a:rPr lang="en-US" b="1" dirty="0"/>
              <a:t>Code Block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Calculates learning schedules and assessment 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Triggers learning sessions and follow-ups based on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</a:t>
            </a:r>
            <a:r>
              <a:rPr lang="en-US" dirty="0" err="1"/>
              <a:t>timezone</a:t>
            </a:r>
            <a:r>
              <a:rPr lang="en-US" dirty="0"/>
              <a:t>-aware, reliable scheduling</a:t>
            </a:r>
          </a:p>
        </p:txBody>
      </p:sp>
    </p:spTree>
    <p:extLst>
      <p:ext uri="{BB962C8B-B14F-4D97-AF65-F5344CB8AC3E}">
        <p14:creationId xmlns:p14="http://schemas.microsoft.com/office/powerpoint/2010/main" val="1628611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BA5C19-D19B-C2E4-8451-B656A77190E6}"/>
              </a:ext>
            </a:extLst>
          </p:cNvPr>
          <p:cNvSpPr txBox="1"/>
          <p:nvPr/>
        </p:nvSpPr>
        <p:spPr>
          <a:xfrm>
            <a:off x="833907" y="491267"/>
            <a:ext cx="60981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Assessment Tool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Generates assessment questions based on completed syllabus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Evaluates learner responses objectively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Produces HR-ready outputs such as score, skill level, and pass/fail status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D8F8CA-456F-DE95-D2A8-F5CDA8B7F20E}"/>
              </a:ext>
            </a:extLst>
          </p:cNvPr>
          <p:cNvSpPr txBox="1"/>
          <p:nvPr/>
        </p:nvSpPr>
        <p:spPr>
          <a:xfrm>
            <a:off x="833907" y="2355537"/>
            <a:ext cx="60981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HR Skill Update Tool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Updates validated skills into the HR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Implemented as an API or mock service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enterprise-grade traceability and compliance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97F95-16D4-EA31-3744-742F9CC7509D}"/>
              </a:ext>
            </a:extLst>
          </p:cNvPr>
          <p:cNvSpPr txBox="1"/>
          <p:nvPr/>
        </p:nvSpPr>
        <p:spPr>
          <a:xfrm>
            <a:off x="833907" y="3942808"/>
            <a:ext cx="6098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Design Principle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Agents decide</a:t>
            </a:r>
            <a:r>
              <a:rPr lang="en-US" dirty="0"/>
              <a:t> what to 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Tools execute</a:t>
            </a:r>
            <a:r>
              <a:rPr lang="en-US" dirty="0"/>
              <a:t> how and when to do 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F39E72-29B9-0010-9F29-B80C71ED0CA1}"/>
              </a:ext>
            </a:extLst>
          </p:cNvPr>
          <p:cNvSpPr txBox="1"/>
          <p:nvPr/>
        </p:nvSpPr>
        <p:spPr>
          <a:xfrm>
            <a:off x="4363792" y="5253080"/>
            <a:ext cx="4056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u="sng" dirty="0"/>
              <a:t>Thank You </a:t>
            </a:r>
            <a:endParaRPr lang="en-IN" sz="3200" b="1" i="1" u="sng" dirty="0"/>
          </a:p>
        </p:txBody>
      </p:sp>
    </p:spTree>
    <p:extLst>
      <p:ext uri="{BB962C8B-B14F-4D97-AF65-F5344CB8AC3E}">
        <p14:creationId xmlns:p14="http://schemas.microsoft.com/office/powerpoint/2010/main" val="2507160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755</Words>
  <Application>Microsoft Office PowerPoint</Application>
  <PresentationFormat>Widescreen</PresentationFormat>
  <Paragraphs>133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AI-Driven Personalized Learning Orchestration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veadhanayaham veadha</dc:creator>
  <cp:lastModifiedBy>veadhanayaham veadha</cp:lastModifiedBy>
  <cp:revision>3</cp:revision>
  <dcterms:created xsi:type="dcterms:W3CDTF">2026-02-01T07:19:38Z</dcterms:created>
  <dcterms:modified xsi:type="dcterms:W3CDTF">2026-02-01T08:37:53Z</dcterms:modified>
</cp:coreProperties>
</file>